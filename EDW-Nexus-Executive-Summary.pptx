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9418" y="1068735"/>
            <a:ext cx="48501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1800"/>
              </a:spcAft>
              <a:buNone/>
            </a:pPr>
            <a:r>
              <a:rPr lang="en-US" sz="30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🔷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263293" y="1983135"/>
            <a:ext cx="26172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EDW Nexus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93608" y="2668935"/>
            <a:ext cx="355678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2400"/>
              </a:spcAft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Engineer's Command Center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80835" y="3446115"/>
            <a:ext cx="13821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51267" y="3887986"/>
            <a:ext cx="20413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Warehouse Team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57150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200+ Data Engineers Across Multiple Vendors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04800" y="1438424"/>
            <a:ext cx="5638800" cy="708571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3850" y="1438424"/>
            <a:ext cx="0" cy="708571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5300" y="1590824"/>
            <a:ext cx="54018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Productivity Loss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5300" y="1834604"/>
            <a:ext cx="54018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spend 30% of time on repetitive tasks: formatting, documentation, test writing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4800" y="2261295"/>
            <a:ext cx="5638800" cy="708571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3850" y="2261295"/>
            <a:ext cx="0" cy="70857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300" y="2413695"/>
            <a:ext cx="54018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Inconsistent Standards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5300" y="2657475"/>
            <a:ext cx="54018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vendors = varying code quality, naming conventions, documentation styles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4800" y="3084165"/>
            <a:ext cx="5638800" cy="708571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3850" y="3084165"/>
            <a:ext cx="0" cy="708571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300" y="3236565"/>
            <a:ext cx="54018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Job Monitoring Gaps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5300" y="3480346"/>
            <a:ext cx="54018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unified alerting system for critical pipeline failures across environments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4800" y="3907036"/>
            <a:ext cx="5638800" cy="708571"/>
          </a:xfrm>
          <a:prstGeom prst="rect">
            <a:avLst/>
          </a:prstGeom>
          <a:solidFill>
            <a:srgbClr val="8B5CF6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23850" y="3907036"/>
            <a:ext cx="0" cy="708571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300" y="4059436"/>
            <a:ext cx="54018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Knowledge Silos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5300" y="4303216"/>
            <a:ext cx="54018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Tribal knowledge locked in individuals; long onboarding time for new team members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72200" y="1084213"/>
            <a:ext cx="2667000" cy="1219051"/>
          </a:xfrm>
          <a:prstGeom prst="roundRect">
            <a:avLst>
              <a:gd name="adj" fmla="val 9376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39840" y="1274713"/>
            <a:ext cx="233172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339840" y="1952774"/>
            <a:ext cx="23317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72200" y="2417564"/>
            <a:ext cx="2667000" cy="1219051"/>
          </a:xfrm>
          <a:prstGeom prst="roundRect">
            <a:avLst>
              <a:gd name="adj" fmla="val 9376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39840" y="2608064"/>
            <a:ext cx="233172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339840" y="3286125"/>
            <a:ext cx="23317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Partners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72200" y="3750915"/>
            <a:ext cx="2667000" cy="1219051"/>
          </a:xfrm>
          <a:prstGeom prst="roundRect">
            <a:avLst>
              <a:gd name="adj" fmla="val 9376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39840" y="3941415"/>
            <a:ext cx="233172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339840" y="4619476"/>
            <a:ext cx="23317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on Manual Tasks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EDW Nexus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57150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 Command Center for Data Engineering Excellence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04800" y="1478310"/>
            <a:ext cx="2743200" cy="2333625"/>
          </a:xfrm>
          <a:prstGeom prst="roundRect">
            <a:avLst>
              <a:gd name="adj" fmla="val 4898"/>
            </a:avLst>
          </a:prstGeom>
          <a:solidFill>
            <a:srgbClr val="6366F1">
              <a:alpha val="10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" y="1640235"/>
            <a:ext cx="24677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Code Studio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66725" y="1935510"/>
            <a:ext cx="2419350" cy="1714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Analysis and Optimization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Documentation Generation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Generation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Analyzer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00400" y="1745010"/>
            <a:ext cx="2743200" cy="1800225"/>
          </a:xfrm>
          <a:prstGeom prst="roundRect">
            <a:avLst>
              <a:gd name="adj" fmla="val 6349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62325" y="1906935"/>
            <a:ext cx="24677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Job Monitor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362325" y="2202210"/>
            <a:ext cx="241935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Job Tracking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Alerts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Long-running Detection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Auto-retry and Fixes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96000" y="1745010"/>
            <a:ext cx="2743200" cy="1800225"/>
          </a:xfrm>
          <a:prstGeom prst="roundRect">
            <a:avLst>
              <a:gd name="adj" fmla="val 6349"/>
            </a:avLst>
          </a:prstGeom>
          <a:solidFill>
            <a:srgbClr val="8B5CF6">
              <a:alpha val="10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57925" y="1906935"/>
            <a:ext cx="24677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Knowledge Base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6257925" y="2202210"/>
            <a:ext cx="241935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System Docs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Agent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Lineage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Snippets Library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04800" y="4379714"/>
            <a:ext cx="2743200" cy="611386"/>
          </a:xfrm>
          <a:prstGeom prst="roundRect">
            <a:avLst>
              <a:gd name="adj" fmla="val 15579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8150" y="4513064"/>
            <a:ext cx="25260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GitHub Integration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38150" y="4724400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creation, naming checks, code review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00400" y="4379714"/>
            <a:ext cx="2743200" cy="611386"/>
          </a:xfrm>
          <a:prstGeom prst="roundRect">
            <a:avLst>
              <a:gd name="adj" fmla="val 15579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33750" y="4513064"/>
            <a:ext cx="25260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VS Code Integration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3333750" y="4724400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code transfer and sync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096000" y="4379714"/>
            <a:ext cx="2743200" cy="611386"/>
          </a:xfrm>
          <a:prstGeom prst="roundRect">
            <a:avLst>
              <a:gd name="adj" fmla="val 15579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29350" y="4513064"/>
            <a:ext cx="25260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AI-Powered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6229350" y="4724400"/>
            <a:ext cx="2526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Claude, Llama, Snowflake Arctic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Benefits?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57150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Value for Every Role in the Data Organization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04800" y="2084338"/>
            <a:ext cx="2019300" cy="1885355"/>
          </a:xfrm>
          <a:prstGeom prst="roundRect">
            <a:avLst>
              <a:gd name="adj" fmla="val 6063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4800" y="2103388"/>
            <a:ext cx="2019300" cy="0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6250" y="2293888"/>
            <a:ext cx="170992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👨‍💻 Data Engineer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6250" y="2518618"/>
            <a:ext cx="17099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75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Contributor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76250" y="2766268"/>
            <a:ext cx="170992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Use:</a:t>
            </a:r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Code optimization, SQL formatting, auto-documentation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76250" y="3135660"/>
            <a:ext cx="170992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Saved:</a:t>
            </a:r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2-3 hours/day on repetitive tasks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76250" y="3505051"/>
            <a:ext cx="170992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Focus on complex problems, not formatting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476500" y="2084338"/>
            <a:ext cx="2019300" cy="1885355"/>
          </a:xfrm>
          <a:prstGeom prst="roundRect">
            <a:avLst>
              <a:gd name="adj" fmla="val 6063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476500" y="2103388"/>
            <a:ext cx="201930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47950" y="2293888"/>
            <a:ext cx="170992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👩‍💼 DE Lead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47950" y="2518618"/>
            <a:ext cx="17099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Manager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647950" y="2766268"/>
            <a:ext cx="170992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Use:</a:t>
            </a:r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Job monitoring, team alerts, code review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647950" y="3135660"/>
            <a:ext cx="170992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Saved:</a:t>
            </a:r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1-2 hours/day on status checks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647950" y="3505051"/>
            <a:ext cx="170992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Consistent code quality across team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648200" y="2084338"/>
            <a:ext cx="2019300" cy="1885355"/>
          </a:xfrm>
          <a:prstGeom prst="roundRect">
            <a:avLst>
              <a:gd name="adj" fmla="val 6063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48200" y="2103388"/>
            <a:ext cx="20193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9650" y="2293888"/>
            <a:ext cx="170992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Support Team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19650" y="2518618"/>
            <a:ext cx="17099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19650" y="2766268"/>
            <a:ext cx="170992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Use:</a:t>
            </a:r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Job alerts, failure diagnosis, auto-fixes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19650" y="3135660"/>
            <a:ext cx="170992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Saved:</a:t>
            </a:r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50% faster incident response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19650" y="3505051"/>
            <a:ext cx="170992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Multi-channel alerts (Email/Teams/SMS)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819900" y="2084338"/>
            <a:ext cx="2019300" cy="1885355"/>
          </a:xfrm>
          <a:prstGeom prst="roundRect">
            <a:avLst>
              <a:gd name="adj" fmla="val 6063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819900" y="2103388"/>
            <a:ext cx="201930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1350" y="2293888"/>
            <a:ext cx="170992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Leadership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991350" y="2518618"/>
            <a:ext cx="17099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75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Directors and Managers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991350" y="2766268"/>
            <a:ext cx="170992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Use:</a:t>
            </a:r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Pipeline health, critical job tracking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6991350" y="3135660"/>
            <a:ext cx="170992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Saved:</a:t>
            </a:r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Instant visibility into operations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6991350" y="3505051"/>
            <a:ext cx="170992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Data-driven team performance metrics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Code Studio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85750" y="5334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Heart of Developer Productivity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04800" y="1573857"/>
            <a:ext cx="5486400" cy="624632"/>
          </a:xfrm>
          <a:prstGeom prst="roundRect">
            <a:avLst>
              <a:gd name="adj" fmla="val 15249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150" y="1707207"/>
            <a:ext cx="53240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SQL Analysis and Optimization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38150" y="1918543"/>
            <a:ext cx="53240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SELECT *, excessive JOINs, subquery issues; provides instant fixes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04800" y="2312789"/>
            <a:ext cx="5486400" cy="624632"/>
          </a:xfrm>
          <a:prstGeom prst="roundRect">
            <a:avLst>
              <a:gd name="adj" fmla="val 15249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8150" y="2446139"/>
            <a:ext cx="53240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Performance Analyzer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38150" y="2657475"/>
            <a:ext cx="53240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Estimates execution time, cost, bytes scanned; works with SQL or Query ID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04800" y="3051721"/>
            <a:ext cx="5486400" cy="624632"/>
          </a:xfrm>
          <a:prstGeom prst="roundRect">
            <a:avLst>
              <a:gd name="adj" fmla="val 15249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8150" y="3185071"/>
            <a:ext cx="53240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Auto Documentation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38150" y="3396407"/>
            <a:ext cx="53240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Technical, Business, or Inline docs from any SQL query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04800" y="3790652"/>
            <a:ext cx="5486400" cy="624632"/>
          </a:xfrm>
          <a:prstGeom prst="roundRect">
            <a:avLst>
              <a:gd name="adj" fmla="val 15249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8150" y="3924002"/>
            <a:ext cx="53240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Test Generation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38150" y="4135338"/>
            <a:ext cx="53240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tests for Snowflake SQL, dbt, or Great Expectations frameworks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981700" y="1143000"/>
            <a:ext cx="2857500" cy="1158180"/>
          </a:xfrm>
          <a:prstGeom prst="roundRect">
            <a:avLst>
              <a:gd name="adj" fmla="val 9869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57151" y="1343025"/>
            <a:ext cx="2506599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6157151" y="1941165"/>
            <a:ext cx="25065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Code Review Time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81700" y="2415480"/>
            <a:ext cx="2857500" cy="1158180"/>
          </a:xfrm>
          <a:prstGeom prst="roundRect">
            <a:avLst>
              <a:gd name="adj" fmla="val 9869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57151" y="2615505"/>
            <a:ext cx="2506599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2hrs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6157151" y="3213646"/>
            <a:ext cx="25065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Per Engineer Per Day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81700" y="3687961"/>
            <a:ext cx="2857500" cy="1158180"/>
          </a:xfrm>
          <a:prstGeom prst="roundRect">
            <a:avLst>
              <a:gd name="adj" fmla="val 9869"/>
            </a:avLst>
          </a:prstGeom>
          <a:solidFill>
            <a:srgbClr val="8B5CF6">
              <a:alpha val="15000"/>
            </a:srgbClr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57151" y="3887986"/>
            <a:ext cx="2506599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150" dirty="0"/>
          </a:p>
        </p:txBody>
      </p:sp>
      <p:sp>
        <p:nvSpPr>
          <p:cNvPr id="24" name="Text 22"/>
          <p:cNvSpPr/>
          <p:nvPr/>
        </p:nvSpPr>
        <p:spPr>
          <a:xfrm>
            <a:off x="6157151" y="4486126"/>
            <a:ext cx="25065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Code Standards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Job Monitor and Alerts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85750" y="5334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Miss a Critical Pipeline Failure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04800" y="1501378"/>
            <a:ext cx="54018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TRACKING FEATURES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04800" y="1807964"/>
            <a:ext cx="5295900" cy="388590"/>
          </a:xfrm>
          <a:prstGeom prst="roundRect">
            <a:avLst>
              <a:gd name="adj" fmla="val 19609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9100" y="1922264"/>
            <a:ext cx="51686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Status Monitoring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4800" y="2291804"/>
            <a:ext cx="5295900" cy="388590"/>
          </a:xfrm>
          <a:prstGeom prst="roundRect">
            <a:avLst>
              <a:gd name="adj" fmla="val 19609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9100" y="2406104"/>
            <a:ext cx="51686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Long-running Job Detection (over 100% avg time)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4800" y="2775645"/>
            <a:ext cx="5295900" cy="388590"/>
          </a:xfrm>
          <a:prstGeom prst="roundRect">
            <a:avLst>
              <a:gd name="adj" fmla="val 19609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9100" y="2889945"/>
            <a:ext cx="51686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Auto-fix Suggestions with One-click Apply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4800" y="3373785"/>
            <a:ext cx="54018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TRIGGERS (Critical Jobs)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04800" y="3680371"/>
            <a:ext cx="2609850" cy="356146"/>
          </a:xfrm>
          <a:prstGeom prst="roundRect">
            <a:avLst>
              <a:gd name="adj" fmla="val 21396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5572" y="3785146"/>
            <a:ext cx="24483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Job Completion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990850" y="3680371"/>
            <a:ext cx="2609850" cy="356146"/>
          </a:xfrm>
          <a:prstGeom prst="roundRect">
            <a:avLst>
              <a:gd name="adj" fmla="val 21396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071622" y="3785146"/>
            <a:ext cx="24483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Job Failure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04800" y="4131766"/>
            <a:ext cx="2609850" cy="356146"/>
          </a:xfrm>
          <a:prstGeom prst="roundRect">
            <a:avLst>
              <a:gd name="adj" fmla="val 21396"/>
            </a:avLst>
          </a:prstGeom>
          <a:solidFill>
            <a:srgbClr val="F59E0B">
              <a:alpha val="10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5572" y="4236541"/>
            <a:ext cx="24483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Over Avg Runtime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2990850" y="4131766"/>
            <a:ext cx="2609850" cy="356146"/>
          </a:xfrm>
          <a:prstGeom prst="roundRect">
            <a:avLst>
              <a:gd name="adj" fmla="val 21396"/>
            </a:avLst>
          </a:prstGeom>
          <a:solidFill>
            <a:srgbClr val="6366F1">
              <a:alpha val="10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071622" y="4236541"/>
            <a:ext cx="24483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Critical Jobs Only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791200" y="1417588"/>
            <a:ext cx="310896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CHANNELS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791200" y="1743224"/>
            <a:ext cx="3048000" cy="714226"/>
          </a:xfrm>
          <a:prstGeom prst="roundRect">
            <a:avLst>
              <a:gd name="adj" fmla="val 16003"/>
            </a:avLst>
          </a:prstGeom>
          <a:solidFill>
            <a:srgbClr val="1F2937"/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962650" y="1914674"/>
            <a:ext cx="275920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Email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62650" y="2139404"/>
            <a:ext cx="27592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failure reports with logs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5791200" y="2571750"/>
            <a:ext cx="3048000" cy="714226"/>
          </a:xfrm>
          <a:prstGeom prst="roundRect">
            <a:avLst>
              <a:gd name="adj" fmla="val 16003"/>
            </a:avLst>
          </a:prstGeom>
          <a:solidFill>
            <a:srgbClr val="1F2937"/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962650" y="2743200"/>
            <a:ext cx="275920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Microsoft Teams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62650" y="2967930"/>
            <a:ext cx="27592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team notifications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5791200" y="3400276"/>
            <a:ext cx="3048000" cy="714226"/>
          </a:xfrm>
          <a:prstGeom prst="roundRect">
            <a:avLst>
              <a:gd name="adj" fmla="val 16003"/>
            </a:avLst>
          </a:prstGeom>
          <a:solidFill>
            <a:srgbClr val="1F2937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962650" y="3571726"/>
            <a:ext cx="275920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SMS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62650" y="3796457"/>
            <a:ext cx="27592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alerts for on-call team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5791200" y="4228802"/>
            <a:ext cx="3048000" cy="342900"/>
          </a:xfrm>
          <a:prstGeom prst="roundRect">
            <a:avLst>
              <a:gd name="adj" fmla="val 2222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867591" y="4333577"/>
            <a:ext cx="2895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SMS alerts enabled only for CRITICAL jobs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Efficiency Impact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57150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Productivity Gains Across 200+ Data Engineers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04800" y="1542306"/>
            <a:ext cx="3790950" cy="1847404"/>
          </a:xfrm>
          <a:prstGeom prst="roundRect">
            <a:avLst>
              <a:gd name="adj" fmla="val 6187"/>
            </a:avLst>
          </a:prstGeom>
          <a:solidFill>
            <a:srgbClr val="EF4444">
              <a:alpha val="5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" y="1704231"/>
            <a:ext cx="35364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- Without EDW Nexus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66725" y="1978521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Formatting: </a:t>
            </a:r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min/day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66725" y="2182267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Documentation: </a:t>
            </a:r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min/day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66725" y="2386013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Writing: </a:t>
            </a:r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min/day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66725" y="2589758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Status Checks: </a:t>
            </a:r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min/day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66725" y="2850654"/>
            <a:ext cx="3467100" cy="377130"/>
          </a:xfrm>
          <a:prstGeom prst="roundRect">
            <a:avLst>
              <a:gd name="adj" fmla="val 15154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9209" y="2945904"/>
            <a:ext cx="33421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~2+ hrs/day on manual tasks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19600" y="2252663"/>
            <a:ext cx="31089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48250" y="1542306"/>
            <a:ext cx="3790950" cy="1847404"/>
          </a:xfrm>
          <a:prstGeom prst="roundRect">
            <a:avLst>
              <a:gd name="adj" fmla="val 6187"/>
            </a:avLst>
          </a:prstGeom>
          <a:solidFill>
            <a:srgbClr val="10B981">
              <a:alpha val="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10175" y="1704231"/>
            <a:ext cx="35364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- With EDW Nexus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10175" y="1978521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Formatting: </a:t>
            </a:r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min/day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210175" y="2182267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Documentation: </a:t>
            </a:r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min/day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210175" y="2386013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Writing: </a:t>
            </a:r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min/day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210175" y="2589758"/>
            <a:ext cx="3536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Status Checks: </a:t>
            </a:r>
            <a:pPr algn="l" indent="0" marL="0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min/day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210175" y="2850654"/>
            <a:ext cx="3467100" cy="377130"/>
          </a:xfrm>
          <a:prstGeom prst="roundRect">
            <a:avLst>
              <a:gd name="adj" fmla="val 15154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72659" y="2945904"/>
            <a:ext cx="33421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 min/day (85% reduction)</a:t>
            </a:r>
            <a:endParaRPr lang="en-US" sz="1050" dirty="0"/>
          </a:p>
        </p:txBody>
      </p:sp>
      <p:pic>
        <p:nvPicPr>
          <p:cNvPr id="21" name="Image 0" descr="/tmp/rasterized-gradient-a50513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4021634"/>
            <a:ext cx="2019300" cy="96946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40055" y="4174034"/>
            <a:ext cx="174879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hrs</a:t>
            </a:r>
            <a:endParaRPr lang="en-US" sz="2700" dirty="0"/>
          </a:p>
        </p:txBody>
      </p:sp>
      <p:sp>
        <p:nvSpPr>
          <p:cNvPr id="23" name="Text 20"/>
          <p:cNvSpPr/>
          <p:nvPr/>
        </p:nvSpPr>
        <p:spPr>
          <a:xfrm>
            <a:off x="440055" y="4692104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 Per Engineer/Day</a:t>
            </a:r>
            <a:endParaRPr lang="en-US" sz="825" dirty="0"/>
          </a:p>
        </p:txBody>
      </p:sp>
      <p:pic>
        <p:nvPicPr>
          <p:cNvPr id="24" name="Image 1" descr="/tmp/rasterized-gradient-42a0a95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4021634"/>
            <a:ext cx="2019300" cy="96946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2611755" y="4174034"/>
            <a:ext cx="174879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hrs</a:t>
            </a:r>
            <a:endParaRPr lang="en-US" sz="2700" dirty="0"/>
          </a:p>
        </p:txBody>
      </p:sp>
      <p:sp>
        <p:nvSpPr>
          <p:cNvPr id="26" name="Text 22"/>
          <p:cNvSpPr/>
          <p:nvPr/>
        </p:nvSpPr>
        <p:spPr>
          <a:xfrm>
            <a:off x="2611755" y="4692104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Team Hours Saved/Day</a:t>
            </a:r>
            <a:endParaRPr lang="en-US" sz="825" dirty="0"/>
          </a:p>
        </p:txBody>
      </p:sp>
      <p:pic>
        <p:nvPicPr>
          <p:cNvPr id="27" name="Image 2" descr="/tmp/rasterized-gradient-3bbd724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4021634"/>
            <a:ext cx="2019300" cy="96946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783455" y="4174034"/>
            <a:ext cx="174879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 hrs</a:t>
            </a:r>
            <a:endParaRPr lang="en-US" sz="2700" dirty="0"/>
          </a:p>
        </p:txBody>
      </p:sp>
      <p:sp>
        <p:nvSpPr>
          <p:cNvPr id="29" name="Text 24"/>
          <p:cNvSpPr/>
          <p:nvPr/>
        </p:nvSpPr>
        <p:spPr>
          <a:xfrm>
            <a:off x="4783455" y="4692104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Hours Reclaimed</a:t>
            </a:r>
            <a:endParaRPr lang="en-US" sz="825" dirty="0"/>
          </a:p>
        </p:txBody>
      </p:sp>
      <p:pic>
        <p:nvPicPr>
          <p:cNvPr id="30" name="Image 3" descr="/tmp/rasterized-gradient-2bbb45d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4021634"/>
            <a:ext cx="2019300" cy="96946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955155" y="4174034"/>
            <a:ext cx="174879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37.5</a:t>
            </a:r>
            <a:endParaRPr lang="en-US" sz="2700" dirty="0"/>
          </a:p>
        </p:txBody>
      </p:sp>
      <p:sp>
        <p:nvSpPr>
          <p:cNvPr id="32" name="Text 26"/>
          <p:cNvSpPr/>
          <p:nvPr/>
        </p:nvSpPr>
        <p:spPr>
          <a:xfrm>
            <a:off x="6955155" y="4692104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FTE Equivalent/Month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Savings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57150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Annual ROI for 200+ Engineer Team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04800" y="1296591"/>
            <a:ext cx="55572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SAVINGS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04800" y="1565077"/>
            <a:ext cx="5448300" cy="1097161"/>
          </a:xfrm>
          <a:prstGeom prst="roundRect">
            <a:avLst>
              <a:gd name="adj" fmla="val 8681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9100" y="1679377"/>
            <a:ext cx="53240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 per Engineer: 1.5 hrs/day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9100" y="1915567"/>
            <a:ext cx="53240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Size: 200 engineers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9100" y="2151757"/>
            <a:ext cx="53240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Days/Year: 250 days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9100" y="2387947"/>
            <a:ext cx="53240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Hours Saved/Year: 75,000 hrs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4800" y="2757488"/>
            <a:ext cx="5448300" cy="624780"/>
          </a:xfrm>
          <a:prstGeom prst="roundRect">
            <a:avLst>
              <a:gd name="adj" fmla="val 15245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9100" y="2871788"/>
            <a:ext cx="53240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Blended Rate: $75/hr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9100" y="3107978"/>
            <a:ext cx="53240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Productivity Value: $5.6M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4800" y="3553718"/>
            <a:ext cx="55572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SAVINGS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04800" y="3822204"/>
            <a:ext cx="5448300" cy="782687"/>
          </a:xfrm>
          <a:prstGeom prst="roundRect">
            <a:avLst>
              <a:gd name="adj" fmla="val 12170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9100" y="3936504"/>
            <a:ext cx="53240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Incident Response: $200K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19100" y="4140250"/>
            <a:ext cx="53240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Onboarding: $150K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19100" y="4343995"/>
            <a:ext cx="53240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 (Fewer Bugs): $100K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981700" y="1138535"/>
            <a:ext cx="2857500" cy="1519982"/>
          </a:xfrm>
          <a:prstGeom prst="roundRect">
            <a:avLst>
              <a:gd name="adj" fmla="val 10026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47435" y="1329035"/>
            <a:ext cx="25260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ANNUAL SAVINGS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47435" y="1591866"/>
            <a:ext cx="252603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$6M+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147435" y="2308027"/>
            <a:ext cx="25260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81700" y="2753767"/>
            <a:ext cx="2857500" cy="1076027"/>
          </a:xfrm>
          <a:prstGeom prst="roundRect">
            <a:avLst>
              <a:gd name="adj" fmla="val 10622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15050" y="2887117"/>
            <a:ext cx="2642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15050" y="3142357"/>
            <a:ext cx="26426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Development: Internal Resource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115050" y="3346103"/>
            <a:ext cx="26426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Infrastructure: Existing Snowflake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6115050" y="3549848"/>
            <a:ext cx="26426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Maintenance: Minimal</a:t>
            </a:r>
            <a:endParaRPr lang="en-US" sz="825" dirty="0"/>
          </a:p>
        </p:txBody>
      </p:sp>
      <p:pic>
        <p:nvPicPr>
          <p:cNvPr id="27" name="Image 0" descr="/tmp/rasterized-gradient-4b904d7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1700" y="3925044"/>
            <a:ext cx="2857500" cy="838051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089142" y="4058394"/>
            <a:ext cx="2642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ON INVESTMENT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089142" y="4256484"/>
            <a:ext cx="264261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Infinite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57150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Rollout for Maximum Adoption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04800" y="1481286"/>
            <a:ext cx="2019300" cy="2137172"/>
          </a:xfrm>
          <a:prstGeom prst="roundRect">
            <a:avLst>
              <a:gd name="adj" fmla="val 5660"/>
            </a:avLst>
          </a:prstGeom>
          <a:solidFill>
            <a:srgbClr val="6366F1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633686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57200" y="1856482"/>
            <a:ext cx="17487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Launch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081212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57200" y="2323058"/>
            <a:ext cx="1714500" cy="11430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10 power users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feedback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features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476500" y="1481286"/>
            <a:ext cx="2019300" cy="2137172"/>
          </a:xfrm>
          <a:prstGeom prst="roundRect">
            <a:avLst>
              <a:gd name="adj" fmla="val 5660"/>
            </a:avLst>
          </a:prstGeom>
          <a:solidFill>
            <a:srgbClr val="8B5CF6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28900" y="1633686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628900" y="1856482"/>
            <a:ext cx="17487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Rollout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28900" y="2081212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3-4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2628900" y="2323058"/>
            <a:ext cx="1714500" cy="11430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50 engineers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sessions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setup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48200" y="1614636"/>
            <a:ext cx="2019300" cy="1870472"/>
          </a:xfrm>
          <a:prstGeom prst="roundRect">
            <a:avLst>
              <a:gd name="adj" fmla="val 6111"/>
            </a:avLst>
          </a:prstGeom>
          <a:solidFill>
            <a:srgbClr val="10B981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00600" y="1767036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800600" y="1989832"/>
            <a:ext cx="17487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Deployment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2214563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5-6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800600" y="2456408"/>
            <a:ext cx="17145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200+ engineers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onboarding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alert config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19900" y="1614636"/>
            <a:ext cx="2019300" cy="1870472"/>
          </a:xfrm>
          <a:prstGeom prst="roundRect">
            <a:avLst>
              <a:gd name="adj" fmla="val 6111"/>
            </a:avLst>
          </a:prstGeom>
          <a:solidFill>
            <a:srgbClr val="F59E0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72300" y="1767036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972300" y="1989832"/>
            <a:ext cx="17487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72300" y="2214563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972300" y="2456408"/>
            <a:ext cx="17145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adoption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new features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ROI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04800" y="4189214"/>
            <a:ext cx="8534400" cy="668536"/>
          </a:xfrm>
          <a:prstGeom prst="roundRect">
            <a:avLst>
              <a:gd name="adj" fmla="val 14248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38150" y="4322564"/>
            <a:ext cx="84330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8150" y="4577804"/>
            <a:ext cx="19916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Adoption in 6 weeks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2543175" y="4577804"/>
            <a:ext cx="19916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hrs/day saved per engineer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648200" y="4577804"/>
            <a:ext cx="19916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Code quality compliance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6753225" y="4577804"/>
            <a:ext cx="19916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Faster incident response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9418" y="555427"/>
            <a:ext cx="48501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1800"/>
              </a:spcAft>
              <a:buNone/>
            </a:pPr>
            <a:r>
              <a:rPr lang="en-US" sz="30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76057" y="1469827"/>
            <a:ext cx="63917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Transform Our Data Engineering?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324683" y="2003227"/>
            <a:ext cx="449463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1800"/>
              </a:spcAft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unlock $6M+ in annual productivity gains for our 200+ engineer team.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311747" y="2570857"/>
            <a:ext cx="1511796" cy="350490"/>
          </a:xfrm>
          <a:prstGeom prst="roundRect">
            <a:avLst>
              <a:gd name="adj" fmla="val 54352"/>
            </a:avLst>
          </a:prstGeom>
          <a:solidFill>
            <a:srgbClr val="10B981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452077" y="2666107"/>
            <a:ext cx="12311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Infrastructure Cost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014043" y="2570857"/>
            <a:ext cx="1554212" cy="350490"/>
          </a:xfrm>
          <a:prstGeom prst="roundRect">
            <a:avLst>
              <a:gd name="adj" fmla="val 54352"/>
            </a:avLst>
          </a:prstGeom>
          <a:solidFill>
            <a:srgbClr val="10B981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53949" y="2666107"/>
            <a:ext cx="12744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6-Week Full Deployment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58755" y="2570857"/>
            <a:ext cx="1073497" cy="350490"/>
          </a:xfrm>
          <a:prstGeom prst="roundRect">
            <a:avLst>
              <a:gd name="adj" fmla="val 54352"/>
            </a:avLst>
          </a:prstGeom>
          <a:solidFill>
            <a:srgbClr val="10B981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03468" y="2666107"/>
            <a:ext cx="7840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ROI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09750" y="3302347"/>
            <a:ext cx="5524500" cy="1190476"/>
          </a:xfrm>
          <a:prstGeom prst="roundRect">
            <a:avLst>
              <a:gd name="adj" fmla="val 12802"/>
            </a:avLst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143125" y="3492847"/>
            <a:ext cx="48577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Aft>
                <a:spcPts val="1200"/>
              </a:spcAft>
              <a:buNone/>
            </a:pPr>
            <a:r>
              <a:rPr lang="en-US" sz="975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2178177" y="3818483"/>
            <a:ext cx="12824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78177" y="4142333"/>
            <a:ext cx="12824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Pilot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98545" y="3926979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30777" y="3818483"/>
            <a:ext cx="12824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30777" y="4142333"/>
            <a:ext cx="12824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Demo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51145" y="3926979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83377" y="3818483"/>
            <a:ext cx="12824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83377" y="4142333"/>
            <a:ext cx="12824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Rollout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EDW Nexus - Executive Summary</dc:title>
  <dc:subject>Data Engineer's Command Center</dc:subject>
  <dc:creator>Enterprise Data Warehouse Team</dc:creator>
  <cp:lastModifiedBy>Enterprise Data Warehouse Team</cp:lastModifiedBy>
  <cp:revision>1</cp:revision>
  <dcterms:created xsi:type="dcterms:W3CDTF">2025-12-31T21:44:43Z</dcterms:created>
  <dcterms:modified xsi:type="dcterms:W3CDTF">2025-12-31T21:44:43Z</dcterms:modified>
</cp:coreProperties>
</file>